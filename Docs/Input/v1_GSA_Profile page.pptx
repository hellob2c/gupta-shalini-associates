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56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54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81812F-4248-4932-BE86-7A2C6011E7D7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3B68F1-0EB4-47A0-831B-F28E6BE7C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464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3B68F1-0EB4-47A0-831B-F28E6BE7CA5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20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mailto:shalini@gsa-india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" y="45720"/>
            <a:ext cx="8942832" cy="76944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003366"/>
                </a:solidFill>
              </a:rPr>
              <a:t>Gupta Shalini &amp; Associates </a:t>
            </a:r>
          </a:p>
          <a:p>
            <a:pPr algn="ctr"/>
            <a:r>
              <a:rPr lang="en-IN" sz="2000" b="1" dirty="0">
                <a:solidFill>
                  <a:srgbClr val="003366"/>
                </a:solidFill>
              </a:rPr>
              <a:t>Ch</a:t>
            </a:r>
            <a:r>
              <a:rPr sz="2000" b="1" dirty="0">
                <a:solidFill>
                  <a:srgbClr val="003366"/>
                </a:solidFill>
              </a:rPr>
              <a:t>artered Accountants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914400"/>
            <a:ext cx="2423160" cy="400110"/>
          </a:xfrm>
          <a:prstGeom prst="rect">
            <a:avLst/>
          </a:prstGeom>
          <a:solidFill>
            <a:srgbClr val="003366"/>
          </a:solidFill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dirty="0"/>
              <a:t>OUR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923544"/>
            <a:ext cx="6254496" cy="400110"/>
          </a:xfrm>
          <a:prstGeom prst="rect">
            <a:avLst/>
          </a:prstGeom>
          <a:solidFill>
            <a:srgbClr val="003366"/>
          </a:solidFill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dirty="0"/>
              <a:t>Welcome to Our Website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1E37D9-F63D-A092-0E73-392A8C5CF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99" y="6013"/>
            <a:ext cx="938634" cy="7803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53CF52-14E6-56FA-32B7-202038DA6EB9}"/>
              </a:ext>
            </a:extLst>
          </p:cNvPr>
          <p:cNvSpPr txBox="1"/>
          <p:nvPr/>
        </p:nvSpPr>
        <p:spPr>
          <a:xfrm>
            <a:off x="6108192" y="4548676"/>
            <a:ext cx="2889504" cy="1738938"/>
          </a:xfrm>
          <a:prstGeom prst="rect">
            <a:avLst/>
          </a:prstGeom>
          <a:solidFill>
            <a:srgbClr val="003366"/>
          </a:solidFill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lang="en-IN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Contact Us: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rPr lang="en-IN" sz="1450" b="1" dirty="0"/>
              <a:t>🌐: </a:t>
            </a:r>
            <a:r>
              <a:rPr lang="en-IN" sz="145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www.gsa-india.com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rPr lang="en-IN" sz="1450" b="1" dirty="0"/>
              <a:t>✉️</a:t>
            </a:r>
            <a:r>
              <a:rPr lang="en-IN" sz="145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: </a:t>
            </a:r>
            <a:r>
              <a:rPr lang="en-IN" sz="145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  <a:hlinkClick r:id="rId4"/>
              </a:rPr>
              <a:t>shalini@gsa-india.com</a:t>
            </a:r>
            <a:endParaRPr lang="en-IN" sz="145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rPr lang="en-IN" sz="145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LI: Gupta Shalini &amp; Associates (GSA-India)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rPr lang="en-IN" sz="145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F : GSA-India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rPr lang="en-IN" sz="145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Insta: GSA-India </a:t>
            </a:r>
            <a:endParaRPr sz="145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A19972-137D-86CF-CF32-5DD8E15D74B4}"/>
              </a:ext>
            </a:extLst>
          </p:cNvPr>
          <p:cNvSpPr txBox="1"/>
          <p:nvPr/>
        </p:nvSpPr>
        <p:spPr>
          <a:xfrm>
            <a:off x="115824" y="1359408"/>
            <a:ext cx="2423160" cy="533992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22222"/>
                </a:solidFill>
              </a:defRPr>
            </a:pPr>
            <a:r>
              <a:rPr lang="en-IN" sz="155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Business Advisory</a:t>
            </a:r>
          </a:p>
          <a:p>
            <a:pPr>
              <a:defRPr sz="1600">
                <a:solidFill>
                  <a:srgbClr val="B22222"/>
                </a:solidFill>
              </a:defRPr>
            </a:pPr>
            <a:r>
              <a:rPr lang="en-IN" sz="155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Business Process Reengineering</a:t>
            </a:r>
          </a:p>
          <a:p>
            <a:pPr>
              <a:defRPr sz="1600">
                <a:solidFill>
                  <a:srgbClr val="B22222"/>
                </a:solidFill>
              </a:defRPr>
            </a:pPr>
            <a:r>
              <a:rPr lang="en-IN" sz="155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Process Transformation</a:t>
            </a:r>
          </a:p>
          <a:p>
            <a:pPr>
              <a:defRPr sz="1600">
                <a:solidFill>
                  <a:srgbClr val="B22222"/>
                </a:solidFill>
              </a:defRPr>
            </a:pPr>
            <a:r>
              <a:rPr lang="en-IN" sz="155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Advisory on Gen AI and Agentic AI</a:t>
            </a:r>
          </a:p>
          <a:p>
            <a:pPr>
              <a:defRPr sz="1600">
                <a:solidFill>
                  <a:srgbClr val="B22222"/>
                </a:solidFill>
              </a:defRPr>
            </a:pPr>
            <a:r>
              <a:rPr lang="en-IN" sz="155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Management Consultancy &amp; Advisory</a:t>
            </a:r>
          </a:p>
          <a:p>
            <a:pPr>
              <a:defRPr sz="1600">
                <a:solidFill>
                  <a:srgbClr val="B22222"/>
                </a:solidFill>
              </a:defRPr>
            </a:pPr>
            <a:r>
              <a:rPr lang="en-IN" sz="155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Audit &amp; Assurance Services</a:t>
            </a:r>
          </a:p>
          <a:p>
            <a:pPr>
              <a:defRPr sz="1600">
                <a:solidFill>
                  <a:srgbClr val="B22222"/>
                </a:solidFill>
              </a:defRPr>
            </a:pPr>
            <a:r>
              <a:rPr lang="en-IN" sz="155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Taxation Services</a:t>
            </a:r>
          </a:p>
          <a:p>
            <a:pPr>
              <a:defRPr sz="1600">
                <a:solidFill>
                  <a:srgbClr val="B22222"/>
                </a:solidFill>
              </a:defRPr>
            </a:pPr>
            <a:r>
              <a:rPr lang="en-IN" sz="155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GST </a:t>
            </a:r>
          </a:p>
          <a:p>
            <a:pPr>
              <a:defRPr sz="1600">
                <a:solidFill>
                  <a:srgbClr val="B22222"/>
                </a:solidFill>
              </a:defRPr>
            </a:pPr>
            <a:r>
              <a:rPr lang="en-IN" sz="155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Accounting &amp; Financial Reporting</a:t>
            </a:r>
          </a:p>
          <a:p>
            <a:pPr>
              <a:defRPr sz="1600">
                <a:solidFill>
                  <a:srgbClr val="B22222"/>
                </a:solidFill>
              </a:defRPr>
            </a:pPr>
            <a:r>
              <a:rPr lang="en-IN" sz="155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Corporate Law &amp; Secretarial Services</a:t>
            </a:r>
          </a:p>
          <a:p>
            <a:pPr>
              <a:defRPr sz="1600">
                <a:solidFill>
                  <a:srgbClr val="B22222"/>
                </a:solidFill>
              </a:defRPr>
            </a:pPr>
            <a:r>
              <a:rPr lang="en-IN" sz="155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Financial &amp; Investment Advisory</a:t>
            </a:r>
          </a:p>
          <a:p>
            <a:pPr>
              <a:defRPr sz="1600">
                <a:solidFill>
                  <a:srgbClr val="B22222"/>
                </a:solidFill>
              </a:defRPr>
            </a:pPr>
            <a:r>
              <a:rPr lang="en-IN" sz="155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Risk Advisory &amp; Compliance</a:t>
            </a:r>
          </a:p>
          <a:p>
            <a:pPr>
              <a:defRPr sz="1600">
                <a:solidFill>
                  <a:srgbClr val="B22222"/>
                </a:solidFill>
              </a:defRPr>
            </a:pPr>
            <a:r>
              <a:rPr lang="en-IN" sz="155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Information Technology (IT) Services</a:t>
            </a:r>
          </a:p>
          <a:p>
            <a:pPr>
              <a:defRPr sz="1600">
                <a:solidFill>
                  <a:srgbClr val="B22222"/>
                </a:solidFill>
              </a:defRPr>
            </a:pPr>
            <a:r>
              <a:rPr lang="en-IN" sz="155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Other Specialized Services </a:t>
            </a:r>
            <a:endParaRPr sz="155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174AAE-C107-EC00-2FE0-93B04FA964CD}"/>
              </a:ext>
            </a:extLst>
          </p:cNvPr>
          <p:cNvSpPr txBox="1"/>
          <p:nvPr/>
        </p:nvSpPr>
        <p:spPr>
          <a:xfrm>
            <a:off x="2731008" y="1395984"/>
            <a:ext cx="6254496" cy="147732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sz="15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 firm </a:t>
            </a:r>
            <a:r>
              <a:rPr lang="en-IN" sz="15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has been </a:t>
            </a:r>
            <a:r>
              <a:rPr sz="15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established </a:t>
            </a:r>
            <a:r>
              <a:rPr lang="en-IN" sz="15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in Sep’25.</a:t>
            </a:r>
            <a:endParaRPr sz="15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>
              <a:defRPr sz="1400">
                <a:solidFill>
                  <a:srgbClr val="000000"/>
                </a:solidFill>
              </a:defRPr>
            </a:pPr>
            <a:r>
              <a:rPr lang="en-IN" sz="15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We </a:t>
            </a:r>
            <a:r>
              <a:rPr sz="15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specialize in </a:t>
            </a:r>
            <a:r>
              <a:rPr lang="en-IN" sz="15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Business and AI Advisory, Consultancy, </a:t>
            </a:r>
            <a:r>
              <a:rPr sz="15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Audit, Taxation, </a:t>
            </a:r>
            <a:r>
              <a:rPr lang="en-IN" sz="15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Business &amp; Process Transformation, </a:t>
            </a:r>
            <a:r>
              <a:rPr sz="15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Company Law, Foreign Exchange Regulations, Service Tax and allied laws. </a:t>
            </a:r>
            <a:endParaRPr lang="en-IN" sz="15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>
              <a:defRPr sz="1400">
                <a:solidFill>
                  <a:srgbClr val="000000"/>
                </a:solidFill>
              </a:defRPr>
            </a:pPr>
            <a:r>
              <a:rPr sz="15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 firm has diversified into Management &amp; Financial Consultancy as well as Information System Audits.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A3182B-695A-A009-379A-E9795FB46755}"/>
              </a:ext>
            </a:extLst>
          </p:cNvPr>
          <p:cNvSpPr txBox="1"/>
          <p:nvPr/>
        </p:nvSpPr>
        <p:spPr>
          <a:xfrm>
            <a:off x="2737104" y="2929128"/>
            <a:ext cx="6254496" cy="147732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sz="15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We are committed to</a:t>
            </a:r>
            <a:r>
              <a:rPr lang="en-IN" sz="15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the below core values</a:t>
            </a:r>
            <a:r>
              <a:rPr sz="15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: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rPr sz="15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- </a:t>
            </a:r>
            <a:r>
              <a:rPr lang="en-IN" sz="15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Client First</a:t>
            </a:r>
            <a:endParaRPr sz="15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>
              <a:defRPr sz="1400">
                <a:solidFill>
                  <a:srgbClr val="000000"/>
                </a:solidFill>
              </a:defRPr>
            </a:pPr>
            <a:r>
              <a:rPr sz="15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- </a:t>
            </a:r>
            <a:r>
              <a:rPr lang="en-IN" sz="15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Process &amp; Service Excellence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rPr lang="en-IN" sz="15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- Value Based Leadership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rPr lang="en-IN" sz="15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- Better than Yesterday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rPr lang="en-IN" sz="15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- Professionalism &amp; Confidentiality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93F7DD-B012-5B35-3AB6-DD121F62E1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2344" y="4523363"/>
            <a:ext cx="3191255" cy="176425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A3F9E15-900F-EC19-5E41-777C27F44FF2}"/>
              </a:ext>
            </a:extLst>
          </p:cNvPr>
          <p:cNvSpPr txBox="1"/>
          <p:nvPr/>
        </p:nvSpPr>
        <p:spPr>
          <a:xfrm>
            <a:off x="2731008" y="6376165"/>
            <a:ext cx="6254496" cy="30777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rgbClr val="003366"/>
                </a:solidFill>
              </a:defRPr>
            </a:lvl1pPr>
          </a:lstStyle>
          <a:p>
            <a:r>
              <a:rPr lang="en-US" sz="1400" dirty="0"/>
              <a:t>We deliver trust, transparency, and timely solutions for your business growth.</a:t>
            </a:r>
            <a:endParaRPr lang="en-IN" sz="1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DE75B40-486F-F4CE-B096-5074457185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3823" y="67954"/>
            <a:ext cx="837078" cy="6681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196</Words>
  <Application>Microsoft Office PowerPoint</Application>
  <PresentationFormat>On-screen Show (4:3)</PresentationFormat>
  <Paragraphs>35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Segoe UI Light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Shalini</dc:creator>
  <cp:keywords/>
  <dc:description>generated using python-pptx</dc:description>
  <cp:lastModifiedBy>shalini gupta</cp:lastModifiedBy>
  <cp:revision>23</cp:revision>
  <dcterms:created xsi:type="dcterms:W3CDTF">2013-01-27T09:14:16Z</dcterms:created>
  <dcterms:modified xsi:type="dcterms:W3CDTF">2025-10-07T12:20:40Z</dcterms:modified>
  <cp:category/>
</cp:coreProperties>
</file>